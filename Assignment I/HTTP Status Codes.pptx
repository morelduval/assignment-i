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8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210F1-25F0-4880-A123-58B3A4A21CA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5E7DF32-4266-4308-B3FA-A5F4BA328AB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447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210F1-25F0-4880-A123-58B3A4A21CA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7DF32-4266-4308-B3FA-A5F4BA328AB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248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210F1-25F0-4880-A123-58B3A4A21CA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5E7DF32-4266-4308-B3FA-A5F4BA328AB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754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210F1-25F0-4880-A123-58B3A4A21CA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5E7DF32-4266-4308-B3FA-A5F4BA328AB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137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210F1-25F0-4880-A123-58B3A4A21CA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5E7DF32-4266-4308-B3FA-A5F4BA328AB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395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210F1-25F0-4880-A123-58B3A4A21CA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7DF32-4266-4308-B3FA-A5F4BA328AB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319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210F1-25F0-4880-A123-58B3A4A21CA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7DF32-4266-4308-B3FA-A5F4BA328AB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915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210F1-25F0-4880-A123-58B3A4A21CA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7DF32-4266-4308-B3FA-A5F4BA328AB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355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210F1-25F0-4880-A123-58B3A4A21CA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5E7DF32-4266-4308-B3FA-A5F4BA328AB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342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210F1-25F0-4880-A123-58B3A4A21CA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5E7DF32-4266-4308-B3FA-A5F4BA328AB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271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210F1-25F0-4880-A123-58B3A4A21CA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5E7DF32-4266-4308-B3FA-A5F4BA328AB8}" type="slidenum">
              <a:rPr lang="en-US" smtClean="0"/>
              <a:t>‹N°›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831495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210F1-25F0-4880-A123-58B3A4A21CA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5E7DF32-4266-4308-B3FA-A5F4BA328AB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9200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210F1-25F0-4880-A123-58B3A4A21CA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5E7DF32-4266-4308-B3FA-A5F4BA328AB8}" type="slidenum">
              <a:rPr lang="en-US" smtClean="0"/>
              <a:t>‹N°›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446275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210F1-25F0-4880-A123-58B3A4A21CA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5E7DF32-4266-4308-B3FA-A5F4BA328AB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6737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210F1-25F0-4880-A123-58B3A4A21CA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7DF32-4266-4308-B3FA-A5F4BA328AB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9768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210F1-25F0-4880-A123-58B3A4A21CA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7DF32-4266-4308-B3FA-A5F4BA328AB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95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7210F1-25F0-4880-A123-58B3A4A21CA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5E7DF32-4266-4308-B3FA-A5F4BA328AB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989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F7A6DE-E2DE-4BF4-B389-DDABF9255A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43276"/>
            <a:ext cx="9144000" cy="1607420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1D1D1F"/>
                </a:solidFill>
                <a:effectLst/>
                <a:latin typeface="system-ui"/>
              </a:rPr>
              <a:t>HTTP Status Codes</a:t>
            </a:r>
            <a:br>
              <a:rPr lang="en-US" b="1" i="0" dirty="0">
                <a:solidFill>
                  <a:srgbClr val="1D1D1F"/>
                </a:solidFill>
                <a:effectLst/>
                <a:latin typeface="system-ui"/>
              </a:rPr>
            </a:br>
            <a:endParaRPr lang="en-US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CB7E1BC-77FD-4787-BA48-47AA8ECFF1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70459"/>
            <a:ext cx="9144000" cy="218734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600" b="1" i="0" dirty="0">
                <a:solidFill>
                  <a:srgbClr val="1D1D1F"/>
                </a:solidFill>
                <a:effectLst/>
                <a:latin typeface="system-ui"/>
              </a:rPr>
              <a:t>Complete Reference Guide</a:t>
            </a:r>
          </a:p>
          <a:p>
            <a:pPr>
              <a:lnSpc>
                <a:spcPct val="100000"/>
              </a:lnSpc>
            </a:pPr>
            <a:r>
              <a:rPr lang="en-US" sz="3600" b="1" i="0" dirty="0">
                <a:solidFill>
                  <a:srgbClr val="1D1D1F"/>
                </a:solidFill>
                <a:effectLst/>
                <a:latin typeface="system-ui"/>
              </a:rPr>
              <a:t>Understanding Web Response Codes</a:t>
            </a:r>
            <a:endParaRPr lang="en-US" sz="3600" b="0" i="0" dirty="0">
              <a:solidFill>
                <a:srgbClr val="1D1D1F"/>
              </a:solidFill>
              <a:effectLst/>
              <a:latin typeface="system-ui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164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203937-68D5-43CD-9049-00B6542C7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5288"/>
            <a:ext cx="10515600" cy="4494998"/>
          </a:xfrm>
        </p:spPr>
        <p:txBody>
          <a:bodyPr>
            <a:normAutofit fontScale="90000"/>
          </a:bodyPr>
          <a:lstStyle/>
          <a:p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1xx: Informational Responses</a:t>
            </a:r>
            <a:b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</a:br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Request received, continuing process</a:t>
            </a:r>
            <a:b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</a:b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• </a:t>
            </a:r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100 Continue</a:t>
            </a: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 – Client should send request body</a:t>
            </a:r>
            <a:b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</a:b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• </a:t>
            </a:r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101 Switching Protocols</a:t>
            </a: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 – Server switching protocols (e.g., to WebSocket)</a:t>
            </a:r>
            <a:b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</a:b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• </a:t>
            </a:r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102 Processing</a:t>
            </a: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 – Server processing request, no response yet</a:t>
            </a:r>
            <a:b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</a:b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• </a:t>
            </a:r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103 Early Hints</a:t>
            </a: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 – Return headers before final response</a:t>
            </a:r>
            <a:b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</a:br>
            <a:endParaRPr lang="en-US" sz="3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74618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203937-68D5-43CD-9049-00B6542C7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0828"/>
            <a:ext cx="10515600" cy="5059458"/>
          </a:xfrm>
        </p:spPr>
        <p:txBody>
          <a:bodyPr>
            <a:noAutofit/>
          </a:bodyPr>
          <a:lstStyle/>
          <a:p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2xx: Success Responses</a:t>
            </a:r>
            <a:b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</a:br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Request successfully completed</a:t>
            </a:r>
            <a:b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</a:b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• </a:t>
            </a:r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200 OK</a:t>
            </a: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 – Request succeeded, returning data</a:t>
            </a:r>
            <a:b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</a:b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• </a:t>
            </a:r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201 Created</a:t>
            </a: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 – Resource successfully created</a:t>
            </a:r>
            <a:b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</a:b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• </a:t>
            </a:r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202 Accepted</a:t>
            </a: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 – Request accepted, processing asynchronously</a:t>
            </a:r>
            <a:b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</a:b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• </a:t>
            </a:r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204 No Content</a:t>
            </a: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 – Success, but no content to return</a:t>
            </a:r>
            <a:b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</a:b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• </a:t>
            </a:r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206 Partial Content</a:t>
            </a: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 – Server delivering partial resource (range requests)</a:t>
            </a:r>
            <a:endParaRPr lang="en-US" sz="3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07287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203937-68D5-43CD-9049-00B6542C7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5288"/>
            <a:ext cx="10515600" cy="4494998"/>
          </a:xfrm>
        </p:spPr>
        <p:txBody>
          <a:bodyPr>
            <a:normAutofit fontScale="90000"/>
          </a:bodyPr>
          <a:lstStyle/>
          <a:p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More 2xx &amp; 3xx Codes</a:t>
            </a:r>
            <a:b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</a:br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2xx Additional:</a:t>
            </a: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 • </a:t>
            </a:r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203 Non-Authoritative</a:t>
            </a: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 – Info from third party • </a:t>
            </a:r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205 Reset Content</a:t>
            </a: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 – Reset document view (clear form) • </a:t>
            </a:r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207 Multi-Status</a:t>
            </a: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 – Multiple responses (WebDAV)</a:t>
            </a:r>
            <a:b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</a:br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3xx: Redirection</a:t>
            </a: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 • </a:t>
            </a:r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301 Moved Permanently</a:t>
            </a: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 – Permanent redirect (SEO important) • </a:t>
            </a:r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302 Found</a:t>
            </a: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 – Temporary redirect • </a:t>
            </a:r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304 Not Modified</a:t>
            </a: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 – Use cached version • </a:t>
            </a:r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307/308</a:t>
            </a: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 – Temporary/Permanent redirect (preserve method)</a:t>
            </a:r>
            <a:endParaRPr lang="en-US" sz="3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63632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203937-68D5-43CD-9049-00B6542C7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5288"/>
            <a:ext cx="10515600" cy="4494998"/>
          </a:xfrm>
        </p:spPr>
        <p:txBody>
          <a:bodyPr>
            <a:normAutofit fontScale="90000"/>
          </a:bodyPr>
          <a:lstStyle/>
          <a:p>
            <a:r>
              <a:rPr lang="en-US" sz="3200" b="1" i="0" dirty="0">
                <a:solidFill>
                  <a:srgbClr val="1D1D1F"/>
                </a:solidFill>
                <a:effectLst/>
              </a:rPr>
              <a:t>4xx: Client Error Codes</a:t>
            </a:r>
            <a:br>
              <a:rPr lang="en-US" sz="3200" b="1" i="0" dirty="0">
                <a:solidFill>
                  <a:srgbClr val="1D1D1F"/>
                </a:solidFill>
                <a:effectLst/>
              </a:rPr>
            </a:br>
            <a:r>
              <a:rPr lang="en-US" sz="3200" b="1" i="0" dirty="0">
                <a:solidFill>
                  <a:srgbClr val="1D1D1F"/>
                </a:solidFill>
                <a:effectLst/>
              </a:rPr>
              <a:t>The request contains an error</a:t>
            </a:r>
            <a:br>
              <a:rPr lang="en-US" sz="3200" b="0" i="0" dirty="0">
                <a:solidFill>
                  <a:srgbClr val="1D1D1F"/>
                </a:solidFill>
                <a:effectLst/>
              </a:rPr>
            </a:br>
            <a:r>
              <a:rPr lang="en-US" sz="3200" b="0" i="0" dirty="0">
                <a:solidFill>
                  <a:srgbClr val="1D1D1F"/>
                </a:solidFill>
                <a:effectLst/>
              </a:rPr>
              <a:t>• </a:t>
            </a:r>
            <a:r>
              <a:rPr lang="en-US" sz="3200" b="1" i="0" dirty="0">
                <a:solidFill>
                  <a:srgbClr val="1D1D1F"/>
                </a:solidFill>
                <a:effectLst/>
              </a:rPr>
              <a:t>400 Bad Request</a:t>
            </a:r>
            <a:r>
              <a:rPr lang="en-US" sz="3200" b="0" i="0" dirty="0">
                <a:solidFill>
                  <a:srgbClr val="1D1D1F"/>
                </a:solidFill>
                <a:effectLst/>
              </a:rPr>
              <a:t> – Malformed syntax</a:t>
            </a:r>
            <a:br>
              <a:rPr lang="en-US" sz="3200" b="0" i="0" dirty="0">
                <a:solidFill>
                  <a:srgbClr val="1D1D1F"/>
                </a:solidFill>
                <a:effectLst/>
              </a:rPr>
            </a:br>
            <a:r>
              <a:rPr lang="en-US" sz="3200" b="0" i="0" dirty="0">
                <a:solidFill>
                  <a:srgbClr val="1D1D1F"/>
                </a:solidFill>
                <a:effectLst/>
              </a:rPr>
              <a:t>• </a:t>
            </a:r>
            <a:r>
              <a:rPr lang="en-US" sz="3200" b="1" i="0" dirty="0">
                <a:solidFill>
                  <a:srgbClr val="1D1D1F"/>
                </a:solidFill>
                <a:effectLst/>
              </a:rPr>
              <a:t>401 Unauthorized</a:t>
            </a:r>
            <a:r>
              <a:rPr lang="en-US" sz="3200" b="0" i="0" dirty="0">
                <a:solidFill>
                  <a:srgbClr val="1D1D1F"/>
                </a:solidFill>
                <a:effectLst/>
              </a:rPr>
              <a:t> – Authentication required</a:t>
            </a:r>
            <a:br>
              <a:rPr lang="en-US" sz="3200" b="0" i="0" dirty="0">
                <a:solidFill>
                  <a:srgbClr val="1D1D1F"/>
                </a:solidFill>
                <a:effectLst/>
              </a:rPr>
            </a:br>
            <a:r>
              <a:rPr lang="en-US" sz="3200" b="0" i="0" dirty="0">
                <a:solidFill>
                  <a:srgbClr val="1D1D1F"/>
                </a:solidFill>
                <a:effectLst/>
              </a:rPr>
              <a:t>• </a:t>
            </a:r>
            <a:r>
              <a:rPr lang="en-US" sz="3200" b="1" i="0" dirty="0">
                <a:solidFill>
                  <a:srgbClr val="1D1D1F"/>
                </a:solidFill>
                <a:effectLst/>
              </a:rPr>
              <a:t>403 Forbidden</a:t>
            </a:r>
            <a:r>
              <a:rPr lang="en-US" sz="3200" b="0" i="0" dirty="0">
                <a:solidFill>
                  <a:srgbClr val="1D1D1F"/>
                </a:solidFill>
                <a:effectLst/>
              </a:rPr>
              <a:t> – Server refuses request (no permission)</a:t>
            </a:r>
            <a:br>
              <a:rPr lang="en-US" sz="3200" b="0" i="0" dirty="0">
                <a:solidFill>
                  <a:srgbClr val="1D1D1F"/>
                </a:solidFill>
                <a:effectLst/>
              </a:rPr>
            </a:br>
            <a:r>
              <a:rPr lang="en-US" sz="3200" b="0" i="0" dirty="0">
                <a:solidFill>
                  <a:srgbClr val="1D1D1F"/>
                </a:solidFill>
                <a:effectLst/>
              </a:rPr>
              <a:t>• </a:t>
            </a:r>
            <a:r>
              <a:rPr lang="en-US" sz="3200" b="1" i="0" dirty="0">
                <a:solidFill>
                  <a:srgbClr val="1D1D1F"/>
                </a:solidFill>
                <a:effectLst/>
              </a:rPr>
              <a:t>404 Not Found</a:t>
            </a:r>
            <a:r>
              <a:rPr lang="en-US" sz="3200" b="0" i="0" dirty="0">
                <a:solidFill>
                  <a:srgbClr val="1D1D1F"/>
                </a:solidFill>
                <a:effectLst/>
              </a:rPr>
              <a:t> – Resource doesn't exist</a:t>
            </a:r>
            <a:br>
              <a:rPr lang="en-US" sz="3200" b="0" i="0" dirty="0">
                <a:solidFill>
                  <a:srgbClr val="1D1D1F"/>
                </a:solidFill>
                <a:effectLst/>
              </a:rPr>
            </a:br>
            <a:r>
              <a:rPr lang="en-US" sz="3200" b="0" i="0" dirty="0">
                <a:solidFill>
                  <a:srgbClr val="1D1D1F"/>
                </a:solidFill>
                <a:effectLst/>
              </a:rPr>
              <a:t>• </a:t>
            </a:r>
            <a:r>
              <a:rPr lang="en-US" sz="3200" b="1" i="0" dirty="0">
                <a:solidFill>
                  <a:srgbClr val="1D1D1F"/>
                </a:solidFill>
                <a:effectLst/>
              </a:rPr>
              <a:t>405 Method Not Allowed</a:t>
            </a:r>
            <a:r>
              <a:rPr lang="en-US" sz="3200" b="0" i="0" dirty="0">
                <a:solidFill>
                  <a:srgbClr val="1D1D1F"/>
                </a:solidFill>
                <a:effectLst/>
              </a:rPr>
              <a:t> – HTTP method not supported</a:t>
            </a:r>
            <a:br>
              <a:rPr lang="en-US" sz="3200" b="0" i="0" dirty="0">
                <a:solidFill>
                  <a:srgbClr val="1D1D1F"/>
                </a:solidFill>
                <a:effectLst/>
              </a:rPr>
            </a:br>
            <a:r>
              <a:rPr lang="en-US" sz="3200" b="0" i="0" dirty="0">
                <a:solidFill>
                  <a:srgbClr val="1D1D1F"/>
                </a:solidFill>
                <a:effectLst/>
              </a:rPr>
              <a:t>• </a:t>
            </a:r>
            <a:r>
              <a:rPr lang="en-US" sz="3200" b="1" i="0" dirty="0">
                <a:solidFill>
                  <a:srgbClr val="1D1D1F"/>
                </a:solidFill>
                <a:effectLst/>
              </a:rPr>
              <a:t>408 Request Timeout</a:t>
            </a:r>
            <a:r>
              <a:rPr lang="en-US" sz="3200" b="0" i="0" dirty="0">
                <a:solidFill>
                  <a:srgbClr val="1D1D1F"/>
                </a:solidFill>
                <a:effectLst/>
              </a:rPr>
              <a:t> – Server timed out waiting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826308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203937-68D5-43CD-9049-00B6542C7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5288"/>
            <a:ext cx="10515600" cy="4494998"/>
          </a:xfrm>
        </p:spPr>
        <p:txBody>
          <a:bodyPr>
            <a:normAutofit fontScale="90000"/>
          </a:bodyPr>
          <a:lstStyle/>
          <a:p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4xx: Client Error Codes (Continued)</a:t>
            </a:r>
            <a:b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</a:b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• </a:t>
            </a:r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409 Conflict</a:t>
            </a: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 – Resource conflict (e.g., edit conflict)</a:t>
            </a:r>
            <a:b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</a:b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• </a:t>
            </a:r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410 Gone</a:t>
            </a: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 – Resource permanently removed</a:t>
            </a:r>
            <a:b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</a:b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• </a:t>
            </a:r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413 Payload Too Large</a:t>
            </a: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 – Request too big</a:t>
            </a:r>
            <a:b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</a:b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• </a:t>
            </a:r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414 URI Too Long</a:t>
            </a: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 – URL exceeds limit</a:t>
            </a:r>
            <a:b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</a:b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• </a:t>
            </a:r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415 Unsupported Media Type</a:t>
            </a: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 – Format not supported</a:t>
            </a:r>
            <a:b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</a:b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• </a:t>
            </a:r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429 Too Many Requests</a:t>
            </a: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 – Rate limit exceeded</a:t>
            </a:r>
            <a:b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</a:b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• </a:t>
            </a:r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451 Unavailable for Legal Reasons</a:t>
            </a: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 – Censored/blocked</a:t>
            </a:r>
            <a:endParaRPr lang="en-US" sz="3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3401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203937-68D5-43CD-9049-00B6542C7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5288"/>
            <a:ext cx="10515600" cy="4494998"/>
          </a:xfrm>
        </p:spPr>
        <p:txBody>
          <a:bodyPr>
            <a:normAutofit fontScale="90000"/>
          </a:bodyPr>
          <a:lstStyle/>
          <a:p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5xx: Server Error Codes</a:t>
            </a:r>
            <a:b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</a:br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Server failed to fulfill valid request</a:t>
            </a:r>
            <a:b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</a:b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• </a:t>
            </a:r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500 Internal Server Error</a:t>
            </a: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 – Generic server error</a:t>
            </a:r>
            <a:b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</a:b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• </a:t>
            </a:r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501 Not Implemented</a:t>
            </a: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 – Functionality not supported</a:t>
            </a:r>
            <a:b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</a:b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• </a:t>
            </a:r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502 Bad Gateway</a:t>
            </a: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 – Invalid response from upstream</a:t>
            </a:r>
            <a:b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</a:b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• </a:t>
            </a:r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503 Service Unavailable</a:t>
            </a: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 – Server overloaded/maintenance</a:t>
            </a:r>
            <a:b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</a:b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• </a:t>
            </a:r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504 Gateway Timeout</a:t>
            </a: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 – Upstream server timeout</a:t>
            </a:r>
            <a:b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</a:b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• </a:t>
            </a:r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507 Insufficient Storage</a:t>
            </a: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 – Can't store resource</a:t>
            </a:r>
            <a:endParaRPr lang="en-US" sz="3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36604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203937-68D5-43CD-9049-00B6542C7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6745"/>
            <a:ext cx="10515600" cy="5602013"/>
          </a:xfrm>
        </p:spPr>
        <p:txBody>
          <a:bodyPr>
            <a:noAutofit/>
          </a:bodyPr>
          <a:lstStyle/>
          <a:p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Key Code Distinctions</a:t>
            </a:r>
            <a:b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</a:br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401 vs 403:</a:t>
            </a: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 • 401 = "I don't know who you are" (Login needed) • 403 = "I know you, but no access" (Permission denied)</a:t>
            </a:r>
            <a:b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</a:br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301 vs 302:</a:t>
            </a: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 • 301 = Permanent redirect (update bookmarks/SEO) • 302 = Temporary redirect (keep original URL)</a:t>
            </a:r>
            <a:b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</a:br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502 vs 504:</a:t>
            </a: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 • 502 = Upstream sent invalid response • 504 = Upstream didn't respond in time</a:t>
            </a:r>
            <a:b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</a:br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200 vs 204:</a:t>
            </a: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 • 200 = Success with data • 204 = Success, no content</a:t>
            </a:r>
            <a:endParaRPr lang="en-US" sz="3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66135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203937-68D5-43CD-9049-00B6542C7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3890"/>
            <a:ext cx="10515600" cy="4996396"/>
          </a:xfrm>
        </p:spPr>
        <p:txBody>
          <a:bodyPr>
            <a:normAutofit/>
          </a:bodyPr>
          <a:lstStyle/>
          <a:p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Status Code Categories</a:t>
            </a:r>
            <a:b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</a:br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1xx</a:t>
            </a: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 – Informational (Continue processing)</a:t>
            </a:r>
            <a:b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</a:br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2xx</a:t>
            </a: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 – Success (Request completed)</a:t>
            </a:r>
            <a:b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</a:br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3xx</a:t>
            </a: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 – Redirection (Action needed)</a:t>
            </a:r>
            <a:b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</a:br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4xx</a:t>
            </a: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 – Client Error (Your mistake)</a:t>
            </a:r>
            <a:b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</a:br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5xx</a:t>
            </a: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 – Server Error (Their mistake)</a:t>
            </a:r>
            <a:b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</a:br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Most Common:</a:t>
            </a: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 200 OK, 301/302 Redirect, 404 Not Found, 500 Server Error</a:t>
            </a:r>
            <a:endParaRPr lang="en-US" sz="3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55727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203937-68D5-43CD-9049-00B6542C7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0110"/>
            <a:ext cx="10515600" cy="5129049"/>
          </a:xfrm>
        </p:spPr>
        <p:txBody>
          <a:bodyPr>
            <a:noAutofit/>
          </a:bodyPr>
          <a:lstStyle/>
          <a:p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Best Practices</a:t>
            </a:r>
            <a:b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</a:br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For Developers:</a:t>
            </a: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 ✓ Use correct status codes for API responses ✓ Implement proper error handling ✓ Return 401 for auth issues, 403 for permissions ✓ Use 429 for rate limiting</a:t>
            </a:r>
            <a:b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</a:br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For SEO:</a:t>
            </a: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 ✓ Use 301 for permanent moves ✓ Return 404 or 410 for removed pages ✓ Avoid soft 404s (200 for missing pages)</a:t>
            </a:r>
            <a:b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</a:br>
            <a:r>
              <a:rPr lang="en-US" sz="3200" b="1" i="0" dirty="0">
                <a:solidFill>
                  <a:srgbClr val="1D1D1F"/>
                </a:solidFill>
                <a:effectLst/>
                <a:latin typeface="+mn-lt"/>
              </a:rPr>
              <a:t>For Users:</a:t>
            </a:r>
            <a:r>
              <a:rPr lang="en-US" sz="3200" b="0" i="0" dirty="0">
                <a:solidFill>
                  <a:srgbClr val="1D1D1F"/>
                </a:solidFill>
                <a:effectLst/>
                <a:latin typeface="+mn-lt"/>
              </a:rPr>
              <a:t> ✓ 4xx = Check your request ✓ 5xx = Wait and retry later ✓ Clear cache for 304 issues</a:t>
            </a:r>
            <a:endParaRPr lang="en-US" sz="3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69819180"/>
      </p:ext>
    </p:extLst>
  </p:cSld>
  <p:clrMapOvr>
    <a:masterClrMapping/>
  </p:clrMapOvr>
</p:sld>
</file>

<file path=ppt/theme/theme1.xml><?xml version="1.0" encoding="utf-8"?>
<a:theme xmlns:a="http://schemas.openxmlformats.org/drawingml/2006/main" name="Brin">
  <a:themeElements>
    <a:clrScheme name="Brin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Brin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rin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17</TotalTime>
  <Words>683</Words>
  <Application>Microsoft Office PowerPoint</Application>
  <PresentationFormat>Grand écran</PresentationFormat>
  <Paragraphs>12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Arial</vt:lpstr>
      <vt:lpstr>Century Gothic</vt:lpstr>
      <vt:lpstr>system-ui</vt:lpstr>
      <vt:lpstr>Wingdings 3</vt:lpstr>
      <vt:lpstr>Brin</vt:lpstr>
      <vt:lpstr>HTTP Status Codes </vt:lpstr>
      <vt:lpstr>1xx: Informational Responses Request received, continuing process • 100 Continue – Client should send request body • 101 Switching Protocols – Server switching protocols (e.g., to WebSocket) • 102 Processing – Server processing request, no response yet • 103 Early Hints – Return headers before final response </vt:lpstr>
      <vt:lpstr>2xx: Success Responses Request successfully completed • 200 OK – Request succeeded, returning data • 201 Created – Resource successfully created • 202 Accepted – Request accepted, processing asynchronously • 204 No Content – Success, but no content to return • 206 Partial Content – Server delivering partial resource (range requests)</vt:lpstr>
      <vt:lpstr>More 2xx &amp; 3xx Codes 2xx Additional: • 203 Non-Authoritative – Info from third party • 205 Reset Content – Reset document view (clear form) • 207 Multi-Status – Multiple responses (WebDAV) 3xx: Redirection • 301 Moved Permanently – Permanent redirect (SEO important) • 302 Found – Temporary redirect • 304 Not Modified – Use cached version • 307/308 – Temporary/Permanent redirect (preserve method)</vt:lpstr>
      <vt:lpstr>4xx: Client Error Codes The request contains an error • 400 Bad Request – Malformed syntax • 401 Unauthorized – Authentication required • 403 Forbidden – Server refuses request (no permission) • 404 Not Found – Resource doesn't exist • 405 Method Not Allowed – HTTP method not supported • 408 Request Timeout – Server timed out waiting</vt:lpstr>
      <vt:lpstr>4xx: Client Error Codes (Continued) • 409 Conflict – Resource conflict (e.g., edit conflict) • 410 Gone – Resource permanently removed • 413 Payload Too Large – Request too big • 414 URI Too Long – URL exceeds limit • 415 Unsupported Media Type – Format not supported • 429 Too Many Requests – Rate limit exceeded • 451 Unavailable for Legal Reasons – Censored/blocked</vt:lpstr>
      <vt:lpstr>5xx: Server Error Codes Server failed to fulfill valid request • 500 Internal Server Error – Generic server error • 501 Not Implemented – Functionality not supported • 502 Bad Gateway – Invalid response from upstream • 503 Service Unavailable – Server overloaded/maintenance • 504 Gateway Timeout – Upstream server timeout • 507 Insufficient Storage – Can't store resource</vt:lpstr>
      <vt:lpstr>Key Code Distinctions 401 vs 403: • 401 = "I don't know who you are" (Login needed) • 403 = "I know you, but no access" (Permission denied) 301 vs 302: • 301 = Permanent redirect (update bookmarks/SEO) • 302 = Temporary redirect (keep original URL) 502 vs 504: • 502 = Upstream sent invalid response • 504 = Upstream didn't respond in time 200 vs 204: • 200 = Success with data • 204 = Success, no content</vt:lpstr>
      <vt:lpstr>Status Code Categories 1xx – Informational (Continue processing) 2xx – Success (Request completed) 3xx – Redirection (Action needed) 4xx – Client Error (Your mistake) 5xx – Server Error (Their mistake) Most Common: 200 OK, 301/302 Redirect, 404 Not Found, 500 Server Error</vt:lpstr>
      <vt:lpstr>Best Practices For Developers: ✓ Use correct status codes for API responses ✓ Implement proper error handling ✓ Return 401 for auth issues, 403 for permissions ✓ Use 429 for rate limiting For SEO: ✓ Use 301 for permanent moves ✓ Return 404 or 410 for removed pages ✓ Avoid soft 404s (200 for missing pages) For Users: ✓ 4xx = Check your request ✓ 5xx = Wait and retry later ✓ Clear cache for 304 issues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 Status Codes</dc:title>
  <dc:creator>Morel</dc:creator>
  <cp:lastModifiedBy>Morel</cp:lastModifiedBy>
  <cp:revision>2</cp:revision>
  <dcterms:created xsi:type="dcterms:W3CDTF">2026-03-05T01:11:17Z</dcterms:created>
  <dcterms:modified xsi:type="dcterms:W3CDTF">2026-03-05T01:28:26Z</dcterms:modified>
</cp:coreProperties>
</file>